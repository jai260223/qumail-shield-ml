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CUE: Respected judges, today we are presenting QuMail-Shield. It solves a fundamental problem: how can space and defense teams send confidential messages over everyday public email like Gmail without fear of future quantum supercomputers or network interception?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CUE: Everyday email has two massive weaknesses. First, adversaries are actively archiving encrypted emails today so they can crack them later with quantum computers. Second, sending obvious scrambled text raises red flags with network firewalls and filters.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CUE: Our architecture works in four clean steps. First, we lock the message with unbreakable One-Time Pad math. Second, our AI hides the scrambled bits inside the pixels of a normal picture. Third, we send that picture through normal Gmail. Fourth, the recipient unlocks it and the key is instantly shredded from memory so it can never be stolen.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CUE: Why do we need AI for steganography? If you hide data in a smooth blue sky, scanners can detect the slight color shifts. Our unsupervised K-Means model finds the busiest textures in the photo—like trees or shadows—and hides data only there. It is 100% invisible to human eyes and automated security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CUE: In Tab 5 of our prototype, we show this live. When an attacker runs a simulated quantum attack on standard RSA, it cracks in milliseconds. But when they inspect QuMail-Shield, the network scanner sees a harmless picture, and quantum algorithms fail because One-Time Pad math cannot be brute-forced.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CUE: To wrap up: QuMail-Shield gives ISRO and defense teams unbreakable post-quantum email security today, using normal Gmail, with zero extra hardware costs. The prototype is fully functional and ready for live demonstration.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4114800"/>
          </a:xfrm>
          <a:prstGeom prst="rect">
            <a:avLst/>
          </a:prstGeom>
          <a:noFill/>
        </p:spPr>
        <p:txBody>
          <a:bodyPr wrap="square">
            <a:spAutoFit/>
          </a:bodyPr>
          <a:lstStyle/>
          <a:p>
            <a:pPr>
              <a:defRPr sz="4800" b="1">
                <a:solidFill>
                  <a:srgbClr val="00F5D4"/>
                </a:solidFill>
              </a:defRPr>
            </a:pPr>
            <a:r>
              <a:t>QuMail-Shield</a:t>
            </a:r>
          </a:p>
          <a:p>
            <a:pPr>
              <a:spcBef>
                <a:spcPts val="800"/>
              </a:spcBef>
              <a:defRPr sz="2000" b="1">
                <a:solidFill>
                  <a:srgbClr val="F1F5F9"/>
                </a:solidFill>
              </a:defRPr>
            </a:pPr>
            <a:r>
              <a:t>Sending Quantum-Secure Messages Over Ordinary Gmail</a:t>
            </a:r>
          </a:p>
          <a:p>
            <a:pPr>
              <a:spcBef>
                <a:spcPts val="1600"/>
              </a:spcBef>
              <a:defRPr sz="1400">
                <a:solidFill>
                  <a:srgbClr val="FF9F1C"/>
                </a:solidFill>
              </a:defRPr>
            </a:pPr>
            <a:r>
              <a:t>Addressing ISRO Problem Statement SIH1523</a:t>
            </a:r>
          </a:p>
          <a:p>
            <a:pPr>
              <a:spcBef>
                <a:spcPts val="1000"/>
              </a:spcBef>
              <a:defRPr sz="1200">
                <a:solidFill>
                  <a:srgbClr val="94A3B8"/>
                </a:solidFill>
              </a:defRPr>
            </a:pPr>
            <a:r>
              <a:t>Core Pillars: Unbreakable Math • AI Camouflage • Live Gmail Integration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none">
            <a:spAutoFit/>
          </a:bodyPr>
          <a:lstStyle/>
          <a:p>
            <a:pPr>
              <a:defRPr sz="1100" b="1">
                <a:solidFill>
                  <a:srgbClr val="00F5D4"/>
                </a:solidFill>
              </a:defRPr>
            </a:pPr>
            <a:r>
              <a:t>THE REAL-WORLD THREAT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F1F5F9"/>
                </a:solidFill>
              </a:defRPr>
            </a:pPr>
            <a:r>
              <a:t>Why Standard Encrypted Email Fails Today</a:t>
            </a:r>
          </a:p>
        </p:txBody>
      </p:sp>
      <p:sp>
        <p:nvSpPr>
          <p:cNvPr id="5" name="Rounded Rectangle 4"/>
          <p:cNvSpPr/>
          <p:nvPr/>
        </p:nvSpPr>
        <p:spPr>
          <a:xfrm>
            <a:off x="731520" y="1463040"/>
            <a:ext cx="5120640" cy="4754880"/>
          </a:xfrm>
          <a:prstGeom prst="roundRect">
            <a:avLst/>
          </a:prstGeom>
          <a:solidFill>
            <a:srgbClr val="0F172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600" b="1">
                <a:solidFill>
                  <a:srgbClr val="F87171"/>
                </a:solidFill>
              </a:defRPr>
            </a:pPr>
            <a:r>
              <a:t>1. The Quantum Time-Bomb (HNDL)</a:t>
            </a:r>
          </a:p>
          <a:p>
            <a:pPr>
              <a:spcAft>
                <a:spcPts val="600"/>
              </a:spcAft>
              <a:defRPr sz="1200">
                <a:solidFill>
                  <a:srgbClr val="F1F5F9"/>
                </a:solidFill>
              </a:defRPr>
            </a:pPr>
            <a:r>
              <a:t>•  Traditional encryption (RSA / ECC) will break once quantum computers run Shor's algorithm.</a:t>
            </a:r>
          </a:p>
          <a:p>
            <a:pPr>
              <a:spcAft>
                <a:spcPts val="600"/>
              </a:spcAft>
              <a:defRPr sz="1200">
                <a:solidFill>
                  <a:srgbClr val="F1F5F9"/>
                </a:solidFill>
              </a:defRPr>
            </a:pPr>
            <a:r>
              <a:t>•  'Harvest Now, Decrypt Later': Adversaries record encrypted military/aerospace emails today, saving them to crack open later.</a:t>
            </a:r>
          </a:p>
          <a:p>
            <a:pPr>
              <a:spcAft>
                <a:spcPts val="600"/>
              </a:spcAft>
              <a:defRPr sz="1200">
                <a:solidFill>
                  <a:srgbClr val="F1F5F9"/>
                </a:solidFill>
              </a:defRPr>
            </a:pPr>
            <a:r>
              <a:t>•  Old sensitive messages stored in inboxes have an expiration date.</a:t>
            </a:r>
          </a:p>
        </p:txBody>
      </p:sp>
      <p:sp>
        <p:nvSpPr>
          <p:cNvPr id="7" name="Rounded Rectangle 6"/>
          <p:cNvSpPr/>
          <p:nvPr/>
        </p:nvSpPr>
        <p:spPr>
          <a:xfrm>
            <a:off x="6217920" y="1463040"/>
            <a:ext cx="5120640" cy="4754880"/>
          </a:xfrm>
          <a:prstGeom prst="roundRect">
            <a:avLst/>
          </a:prstGeom>
          <a:solidFill>
            <a:srgbClr val="0F172A"/>
          </a:solidFill>
          <a:ln w="19050">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754880" cy="4389120"/>
          </a:xfrm>
          <a:prstGeom prst="rect">
            <a:avLst/>
          </a:prstGeom>
          <a:noFill/>
        </p:spPr>
        <p:txBody>
          <a:bodyPr wrap="square">
            <a:spAutoFit/>
          </a:bodyPr>
          <a:lstStyle/>
          <a:p>
            <a:pPr>
              <a:spcAft>
                <a:spcPts val="800"/>
              </a:spcAft>
              <a:defRPr sz="1600" b="1">
                <a:solidFill>
                  <a:srgbClr val="FF9F1C"/>
                </a:solidFill>
              </a:defRPr>
            </a:pPr>
            <a:r>
              <a:t>2. The 'Look at Me' Problem</a:t>
            </a:r>
          </a:p>
          <a:p>
            <a:pPr>
              <a:spcAft>
                <a:spcPts val="600"/>
              </a:spcAft>
              <a:defRPr sz="1200">
                <a:solidFill>
                  <a:srgbClr val="F1F5F9"/>
                </a:solidFill>
              </a:defRPr>
            </a:pPr>
            <a:r>
              <a:t>•  Standard PGP encryption produces obvious blocks of scrambled text (BEGIN PGP MESSAGE).</a:t>
            </a:r>
          </a:p>
          <a:p>
            <a:pPr>
              <a:spcAft>
                <a:spcPts val="600"/>
              </a:spcAft>
              <a:defRPr sz="1200">
                <a:solidFill>
                  <a:srgbClr val="F1F5F9"/>
                </a:solidFill>
              </a:defRPr>
            </a:pPr>
            <a:r>
              <a:t>•  Network sniffers and Deep Packet Inspection (DPI) firewalls immediately flag these emails for targeted interception.</a:t>
            </a:r>
          </a:p>
          <a:p>
            <a:pPr>
              <a:spcAft>
                <a:spcPts val="600"/>
              </a:spcAft>
              <a:defRPr sz="1200">
                <a:solidFill>
                  <a:srgbClr val="F1F5F9"/>
                </a:solidFill>
              </a:defRPr>
            </a:pPr>
            <a:r>
              <a:t>•  Obvious encryption invites suspicion and traffic monitoring.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none">
            <a:spAutoFit/>
          </a:bodyPr>
          <a:lstStyle/>
          <a:p>
            <a:pPr>
              <a:defRPr sz="1100" b="1">
                <a:solidFill>
                  <a:srgbClr val="00F5D4"/>
                </a:solidFill>
              </a:defRPr>
            </a:pPr>
            <a:r>
              <a:t>THE 4-STEP SOLUTION</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F1F5F9"/>
                </a:solidFill>
              </a:defRPr>
            </a:pPr>
            <a:r>
              <a:t>How QuMail-Shield Protects Every Message</a:t>
            </a:r>
          </a:p>
        </p:txBody>
      </p:sp>
      <p:sp>
        <p:nvSpPr>
          <p:cNvPr id="5" name="Rounded Rectangle 4"/>
          <p:cNvSpPr/>
          <p:nvPr/>
        </p:nvSpPr>
        <p:spPr>
          <a:xfrm>
            <a:off x="731520" y="1463040"/>
            <a:ext cx="2468880" cy="4754880"/>
          </a:xfrm>
          <a:prstGeom prst="roundRect">
            <a:avLst/>
          </a:prstGeom>
          <a:solidFill>
            <a:srgbClr val="0F172A"/>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2103120" cy="4389120"/>
          </a:xfrm>
          <a:prstGeom prst="rect">
            <a:avLst/>
          </a:prstGeom>
          <a:noFill/>
        </p:spPr>
        <p:txBody>
          <a:bodyPr wrap="square">
            <a:spAutoFit/>
          </a:bodyPr>
          <a:lstStyle/>
          <a:p>
            <a:pPr>
              <a:spcAft>
                <a:spcPts val="800"/>
              </a:spcAft>
              <a:defRPr sz="1600" b="1">
                <a:solidFill>
                  <a:srgbClr val="00F5D4"/>
                </a:solidFill>
              </a:defRPr>
            </a:pPr>
            <a:r>
              <a:t>1. The Lock</a:t>
            </a:r>
          </a:p>
          <a:p>
            <a:pPr>
              <a:spcAft>
                <a:spcPts val="600"/>
              </a:spcAft>
              <a:defRPr sz="1200">
                <a:solidFill>
                  <a:srgbClr val="F1F5F9"/>
                </a:solidFill>
              </a:defRPr>
            </a:pPr>
            <a:r>
              <a:t>•  Takes your secret text.</a:t>
            </a:r>
          </a:p>
          <a:p>
            <a:pPr>
              <a:spcAft>
                <a:spcPts val="600"/>
              </a:spcAft>
              <a:defRPr sz="1200">
                <a:solidFill>
                  <a:srgbClr val="F1F5F9"/>
                </a:solidFill>
              </a:defRPr>
            </a:pPr>
            <a:r>
              <a:t>•  Locks it with One-Time Pad (OTP) bitwise XOR math.</a:t>
            </a:r>
          </a:p>
          <a:p>
            <a:pPr>
              <a:spcAft>
                <a:spcPts val="600"/>
              </a:spcAft>
              <a:defRPr sz="1200">
                <a:solidFill>
                  <a:srgbClr val="F1F5F9"/>
                </a:solidFill>
              </a:defRPr>
            </a:pPr>
            <a:r>
              <a:t>•  Uses a single-use key stored locally on your device.</a:t>
            </a:r>
          </a:p>
          <a:p>
            <a:pPr>
              <a:spcAft>
                <a:spcPts val="600"/>
              </a:spcAft>
              <a:defRPr sz="1200">
                <a:solidFill>
                  <a:srgbClr val="F1F5F9"/>
                </a:solidFill>
              </a:defRPr>
            </a:pPr>
            <a:r>
              <a:t>•  Mathematically unbreakable.</a:t>
            </a:r>
          </a:p>
        </p:txBody>
      </p:sp>
      <p:sp>
        <p:nvSpPr>
          <p:cNvPr id="7" name="Rounded Rectangle 6"/>
          <p:cNvSpPr/>
          <p:nvPr/>
        </p:nvSpPr>
        <p:spPr>
          <a:xfrm>
            <a:off x="3474720" y="1463040"/>
            <a:ext cx="2468880" cy="4754880"/>
          </a:xfrm>
          <a:prstGeom prst="roundRect">
            <a:avLst/>
          </a:prstGeom>
          <a:solidFill>
            <a:srgbClr val="0F172A"/>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645920"/>
            <a:ext cx="2103120" cy="4389120"/>
          </a:xfrm>
          <a:prstGeom prst="rect">
            <a:avLst/>
          </a:prstGeom>
          <a:noFill/>
        </p:spPr>
        <p:txBody>
          <a:bodyPr wrap="square">
            <a:spAutoFit/>
          </a:bodyPr>
          <a:lstStyle/>
          <a:p>
            <a:pPr>
              <a:spcAft>
                <a:spcPts val="800"/>
              </a:spcAft>
              <a:defRPr sz="1600" b="1">
                <a:solidFill>
                  <a:srgbClr val="00F5D4"/>
                </a:solidFill>
              </a:defRPr>
            </a:pPr>
            <a:r>
              <a:t>2. The Camouflage</a:t>
            </a:r>
          </a:p>
          <a:p>
            <a:pPr>
              <a:spcAft>
                <a:spcPts val="600"/>
              </a:spcAft>
              <a:defRPr sz="1200">
                <a:solidFill>
                  <a:srgbClr val="F1F5F9"/>
                </a:solidFill>
              </a:defRPr>
            </a:pPr>
            <a:r>
              <a:t>•  Takes a normal picture (PNG).</a:t>
            </a:r>
          </a:p>
          <a:p>
            <a:pPr>
              <a:spcAft>
                <a:spcPts val="600"/>
              </a:spcAft>
              <a:defRPr sz="1200">
                <a:solidFill>
                  <a:srgbClr val="F1F5F9"/>
                </a:solidFill>
              </a:defRPr>
            </a:pPr>
            <a:r>
              <a:t>•  An unsupervised AI finds the busiest, high-texture zones.</a:t>
            </a:r>
          </a:p>
          <a:p>
            <a:pPr>
              <a:spcAft>
                <a:spcPts val="600"/>
              </a:spcAft>
              <a:defRPr sz="1200">
                <a:solidFill>
                  <a:srgbClr val="F1F5F9"/>
                </a:solidFill>
              </a:defRPr>
            </a:pPr>
            <a:r>
              <a:t>•  Embeds the locked bits into image pixels.</a:t>
            </a:r>
          </a:p>
          <a:p>
            <a:pPr>
              <a:spcAft>
                <a:spcPts val="600"/>
              </a:spcAft>
              <a:defRPr sz="1200">
                <a:solidFill>
                  <a:srgbClr val="F1F5F9"/>
                </a:solidFill>
              </a:defRPr>
            </a:pPr>
            <a:r>
              <a:t>•  Picture looks completely untouched.</a:t>
            </a:r>
          </a:p>
        </p:txBody>
      </p:sp>
      <p:sp>
        <p:nvSpPr>
          <p:cNvPr id="9" name="Rounded Rectangle 8"/>
          <p:cNvSpPr/>
          <p:nvPr/>
        </p:nvSpPr>
        <p:spPr>
          <a:xfrm>
            <a:off x="6217920" y="1463040"/>
            <a:ext cx="2468880" cy="4754880"/>
          </a:xfrm>
          <a:prstGeom prst="roundRect">
            <a:avLst/>
          </a:prstGeom>
          <a:solidFill>
            <a:srgbClr val="0F172A"/>
          </a:solidFill>
          <a:ln w="19050">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2103120" cy="4389120"/>
          </a:xfrm>
          <a:prstGeom prst="rect">
            <a:avLst/>
          </a:prstGeom>
          <a:noFill/>
        </p:spPr>
        <p:txBody>
          <a:bodyPr wrap="square">
            <a:spAutoFit/>
          </a:bodyPr>
          <a:lstStyle/>
          <a:p>
            <a:pPr>
              <a:spcAft>
                <a:spcPts val="800"/>
              </a:spcAft>
              <a:defRPr sz="1600" b="1">
                <a:solidFill>
                  <a:srgbClr val="FF9F1C"/>
                </a:solidFill>
              </a:defRPr>
            </a:pPr>
            <a:r>
              <a:t>3. The Transit</a:t>
            </a:r>
          </a:p>
          <a:p>
            <a:pPr>
              <a:spcAft>
                <a:spcPts val="600"/>
              </a:spcAft>
              <a:defRPr sz="1200">
                <a:solidFill>
                  <a:srgbClr val="F1F5F9"/>
                </a:solidFill>
              </a:defRPr>
            </a:pPr>
            <a:r>
              <a:t>•  Sends the PNG picture as a standard attachment.</a:t>
            </a:r>
          </a:p>
          <a:p>
            <a:pPr>
              <a:spcAft>
                <a:spcPts val="600"/>
              </a:spcAft>
              <a:defRPr sz="1200">
                <a:solidFill>
                  <a:srgbClr val="F1F5F9"/>
                </a:solidFill>
              </a:defRPr>
            </a:pPr>
            <a:r>
              <a:t>•  Connects directly to real Gmail servers (SMTP).</a:t>
            </a:r>
          </a:p>
          <a:p>
            <a:pPr>
              <a:spcAft>
                <a:spcPts val="600"/>
              </a:spcAft>
              <a:defRPr sz="1200">
                <a:solidFill>
                  <a:srgbClr val="F1F5F9"/>
                </a:solidFill>
              </a:defRPr>
            </a:pPr>
            <a:r>
              <a:t>•  Google and intermediate routers see only a normal image.</a:t>
            </a:r>
          </a:p>
        </p:txBody>
      </p:sp>
      <p:sp>
        <p:nvSpPr>
          <p:cNvPr id="11" name="Rounded Rectangle 10"/>
          <p:cNvSpPr/>
          <p:nvPr/>
        </p:nvSpPr>
        <p:spPr>
          <a:xfrm>
            <a:off x="8961120" y="1463040"/>
            <a:ext cx="2468880" cy="47548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645920"/>
            <a:ext cx="2103120" cy="4389120"/>
          </a:xfrm>
          <a:prstGeom prst="rect">
            <a:avLst/>
          </a:prstGeom>
          <a:noFill/>
        </p:spPr>
        <p:txBody>
          <a:bodyPr wrap="square">
            <a:spAutoFit/>
          </a:bodyPr>
          <a:lstStyle/>
          <a:p>
            <a:pPr>
              <a:spcAft>
                <a:spcPts val="800"/>
              </a:spcAft>
              <a:defRPr sz="1600" b="1">
                <a:solidFill>
                  <a:srgbClr val="34D399"/>
                </a:solidFill>
              </a:defRPr>
            </a:pPr>
            <a:r>
              <a:t>4. Unlock &amp; Shred</a:t>
            </a:r>
          </a:p>
          <a:p>
            <a:pPr>
              <a:spcAft>
                <a:spcPts val="600"/>
              </a:spcAft>
              <a:defRPr sz="1200">
                <a:solidFill>
                  <a:srgbClr val="F1F5F9"/>
                </a:solidFill>
              </a:defRPr>
            </a:pPr>
            <a:r>
              <a:t>•  Receiver extracts hidden bits with the matching local key.</a:t>
            </a:r>
          </a:p>
          <a:p>
            <a:pPr>
              <a:spcAft>
                <a:spcPts val="600"/>
              </a:spcAft>
              <a:defRPr sz="1200">
                <a:solidFill>
                  <a:srgbClr val="F1F5F9"/>
                </a:solidFill>
              </a:defRPr>
            </a:pPr>
            <a:r>
              <a:t>•  Plain text is restored instantly.</a:t>
            </a:r>
          </a:p>
          <a:p>
            <a:pPr>
              <a:spcAft>
                <a:spcPts val="600"/>
              </a:spcAft>
              <a:defRPr sz="1200">
                <a:solidFill>
                  <a:srgbClr val="F1F5F9"/>
                </a:solidFill>
              </a:defRPr>
            </a:pPr>
            <a:r>
              <a:t>•  The key is immediately shredded from memory forever (Forward Secrecy).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none">
            <a:spAutoFit/>
          </a:bodyPr>
          <a:lstStyle/>
          <a:p>
            <a:pPr>
              <a:defRPr sz="1100" b="1">
                <a:solidFill>
                  <a:srgbClr val="00F5D4"/>
                </a:solidFill>
              </a:defRPr>
            </a:pPr>
            <a:r>
              <a:t>AI STEGANOGRAPHY</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F1F5F9"/>
                </a:solidFill>
              </a:defRPr>
            </a:pPr>
            <a:r>
              <a:t>Why We Use Unsupervised K-Means Clustering</a:t>
            </a:r>
          </a:p>
        </p:txBody>
      </p:sp>
      <p:sp>
        <p:nvSpPr>
          <p:cNvPr id="5" name="Rounded Rectangle 4"/>
          <p:cNvSpPr/>
          <p:nvPr/>
        </p:nvSpPr>
        <p:spPr>
          <a:xfrm>
            <a:off x="731520" y="1463040"/>
            <a:ext cx="5120640" cy="4754880"/>
          </a:xfrm>
          <a:prstGeom prst="roundRect">
            <a:avLst/>
          </a:prstGeom>
          <a:solidFill>
            <a:srgbClr val="0F172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600" b="1">
                <a:solidFill>
                  <a:srgbClr val="F87171"/>
                </a:solidFill>
              </a:defRPr>
            </a:pPr>
            <a:r>
              <a:t>The Dumb Way (Blind Embedding)</a:t>
            </a:r>
          </a:p>
          <a:p>
            <a:pPr>
              <a:spcAft>
                <a:spcPts val="600"/>
              </a:spcAft>
              <a:defRPr sz="1200">
                <a:solidFill>
                  <a:srgbClr val="F1F5F9"/>
                </a:solidFill>
              </a:defRPr>
            </a:pPr>
            <a:r>
              <a:t>•  Hiding data blindly in flat, smooth areas (like a clear blue sky) leaves visible artifacts.</a:t>
            </a:r>
          </a:p>
          <a:p>
            <a:pPr>
              <a:spcAft>
                <a:spcPts val="600"/>
              </a:spcAft>
              <a:defRPr sz="1200">
                <a:solidFill>
                  <a:srgbClr val="F1F5F9"/>
                </a:solidFill>
              </a:defRPr>
            </a:pPr>
            <a:r>
              <a:t>•  Statistical scanners and Chi-Square analysis easily detect color distortions in flat zones.</a:t>
            </a:r>
          </a:p>
          <a:p>
            <a:pPr>
              <a:spcAft>
                <a:spcPts val="600"/>
              </a:spcAft>
              <a:defRPr sz="1200">
                <a:solidFill>
                  <a:srgbClr val="F1F5F9"/>
                </a:solidFill>
              </a:defRPr>
            </a:pPr>
            <a:r>
              <a:t>•  Easily caught by Deep Packet Inspection (DPI).</a:t>
            </a:r>
          </a:p>
        </p:txBody>
      </p:sp>
      <p:sp>
        <p:nvSpPr>
          <p:cNvPr id="7" name="Rounded Rectangle 6"/>
          <p:cNvSpPr/>
          <p:nvPr/>
        </p:nvSpPr>
        <p:spPr>
          <a:xfrm>
            <a:off x="6217920" y="1463040"/>
            <a:ext cx="5120640" cy="47548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754880" cy="4389120"/>
          </a:xfrm>
          <a:prstGeom prst="rect">
            <a:avLst/>
          </a:prstGeom>
          <a:noFill/>
        </p:spPr>
        <p:txBody>
          <a:bodyPr wrap="square">
            <a:spAutoFit/>
          </a:bodyPr>
          <a:lstStyle/>
          <a:p>
            <a:pPr>
              <a:spcAft>
                <a:spcPts val="800"/>
              </a:spcAft>
              <a:defRPr sz="1600" b="1">
                <a:solidFill>
                  <a:srgbClr val="34D399"/>
                </a:solidFill>
              </a:defRPr>
            </a:pPr>
            <a:r>
              <a:t>Our AI Way (Unsupervised K-Means)</a:t>
            </a:r>
          </a:p>
          <a:p>
            <a:pPr>
              <a:spcAft>
                <a:spcPts val="600"/>
              </a:spcAft>
              <a:defRPr sz="1200">
                <a:solidFill>
                  <a:srgbClr val="F1F5F9"/>
                </a:solidFill>
              </a:defRPr>
            </a:pPr>
            <a:r>
              <a:t>•  The AI scans image gradients using Most Significant Bits (MSBs).</a:t>
            </a:r>
          </a:p>
          <a:p>
            <a:pPr>
              <a:spcAft>
                <a:spcPts val="600"/>
              </a:spcAft>
              <a:defRPr sz="1200">
                <a:solidFill>
                  <a:srgbClr val="F1F5F9"/>
                </a:solidFill>
              </a:defRPr>
            </a:pPr>
            <a:r>
              <a:t>•  It automatically groups pixels into Smooth vs. Chaotic Texture areas without human labels.</a:t>
            </a:r>
          </a:p>
          <a:p>
            <a:pPr>
              <a:spcAft>
                <a:spcPts val="600"/>
              </a:spcAft>
              <a:defRPr sz="1200">
                <a:solidFill>
                  <a:srgbClr val="F1F5F9"/>
                </a:solidFill>
              </a:defRPr>
            </a:pPr>
            <a:r>
              <a:t>•  It hides secret bits strictly inside the high-texture, noisy zones (like grass, gravel, or details).</a:t>
            </a:r>
          </a:p>
          <a:p>
            <a:pPr>
              <a:spcAft>
                <a:spcPts val="600"/>
              </a:spcAft>
              <a:defRPr sz="1200">
                <a:solidFill>
                  <a:srgbClr val="F1F5F9"/>
                </a:solidFill>
              </a:defRPr>
            </a:pPr>
            <a:r>
              <a:t>•  Result: PSNR &gt; 50 dB — completely invisible to both human eyes and firewall scanners.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none">
            <a:spAutoFit/>
          </a:bodyPr>
          <a:lstStyle/>
          <a:p>
            <a:pPr>
              <a:defRPr sz="1100" b="1">
                <a:solidFill>
                  <a:srgbClr val="00F5D4"/>
                </a:solidFill>
              </a:defRPr>
            </a:pPr>
            <a:r>
              <a:t>DEMONSTRATION &amp; PROOF</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F1F5F9"/>
                </a:solidFill>
              </a:defRPr>
            </a:pPr>
            <a:r>
              <a:t>Simulating Quantum Attacks Live in the Prototype</a:t>
            </a:r>
          </a:p>
        </p:txBody>
      </p:sp>
      <p:sp>
        <p:nvSpPr>
          <p:cNvPr id="5" name="Rounded Rectangle 4"/>
          <p:cNvSpPr/>
          <p:nvPr/>
        </p:nvSpPr>
        <p:spPr>
          <a:xfrm>
            <a:off x="731520" y="1463040"/>
            <a:ext cx="5120640" cy="4754880"/>
          </a:xfrm>
          <a:prstGeom prst="roundRect">
            <a:avLst/>
          </a:prstGeom>
          <a:solidFill>
            <a:srgbClr val="0F172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600" b="1">
                <a:solidFill>
                  <a:srgbClr val="F87171"/>
                </a:solidFill>
              </a:defRPr>
            </a:pPr>
            <a:r>
              <a:t>Traditional RSA-2048 Email</a:t>
            </a:r>
          </a:p>
          <a:p>
            <a:pPr>
              <a:spcAft>
                <a:spcPts val="600"/>
              </a:spcAft>
              <a:defRPr sz="1200">
                <a:solidFill>
                  <a:srgbClr val="F1F5F9"/>
                </a:solidFill>
              </a:defRPr>
            </a:pPr>
            <a:r>
              <a:t>•  Simulates an attacker intercepting normal encrypted email traffic.</a:t>
            </a:r>
          </a:p>
          <a:p>
            <a:pPr>
              <a:spcAft>
                <a:spcPts val="600"/>
              </a:spcAft>
              <a:defRPr sz="1200">
                <a:solidFill>
                  <a:srgbClr val="F1F5F9"/>
                </a:solidFill>
              </a:defRPr>
            </a:pPr>
            <a:r>
              <a:t>•  Shor's quantum algorithm factors the key in milliseconds (0.042 ms).</a:t>
            </a:r>
          </a:p>
          <a:p>
            <a:pPr>
              <a:spcAft>
                <a:spcPts val="600"/>
              </a:spcAft>
              <a:defRPr sz="1200">
                <a:solidFill>
                  <a:srgbClr val="F1F5F9"/>
                </a:solidFill>
              </a:defRPr>
            </a:pPr>
            <a:r>
              <a:t>•  Result: Keys extracted and private data is fully exposed.</a:t>
            </a:r>
          </a:p>
          <a:p>
            <a:pPr>
              <a:spcAft>
                <a:spcPts val="600"/>
              </a:spcAft>
              <a:defRPr sz="1200">
                <a:solidFill>
                  <a:srgbClr val="F1F5F9"/>
                </a:solidFill>
              </a:defRPr>
            </a:pPr>
            <a:r>
              <a:t>•  Fails completely against quantum computers.</a:t>
            </a:r>
          </a:p>
        </p:txBody>
      </p:sp>
      <p:sp>
        <p:nvSpPr>
          <p:cNvPr id="7" name="Rounded Rectangle 6"/>
          <p:cNvSpPr/>
          <p:nvPr/>
        </p:nvSpPr>
        <p:spPr>
          <a:xfrm>
            <a:off x="6217920" y="1463040"/>
            <a:ext cx="5120640" cy="47548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754880" cy="4389120"/>
          </a:xfrm>
          <a:prstGeom prst="rect">
            <a:avLst/>
          </a:prstGeom>
          <a:noFill/>
        </p:spPr>
        <p:txBody>
          <a:bodyPr wrap="square">
            <a:spAutoFit/>
          </a:bodyPr>
          <a:lstStyle/>
          <a:p>
            <a:pPr>
              <a:spcAft>
                <a:spcPts val="800"/>
              </a:spcAft>
              <a:defRPr sz="1600" b="1">
                <a:solidFill>
                  <a:srgbClr val="34D399"/>
                </a:solidFill>
              </a:defRPr>
            </a:pPr>
            <a:r>
              <a:t>QuMail-Shield Carrier</a:t>
            </a:r>
          </a:p>
          <a:p>
            <a:pPr>
              <a:spcAft>
                <a:spcPts val="600"/>
              </a:spcAft>
              <a:defRPr sz="1200">
                <a:solidFill>
                  <a:srgbClr val="F1F5F9"/>
                </a:solidFill>
              </a:defRPr>
            </a:pPr>
            <a:r>
              <a:t>•  Adversary intercepts the PNG image sent over Gmail.</a:t>
            </a:r>
          </a:p>
          <a:p>
            <a:pPr>
              <a:spcAft>
                <a:spcPts val="600"/>
              </a:spcAft>
              <a:defRPr sz="1200">
                <a:solidFill>
                  <a:srgbClr val="F1F5F9"/>
                </a:solidFill>
              </a:defRPr>
            </a:pPr>
            <a:r>
              <a:t>•  Network scanner logs: [PASS - CLEAN IMAGE] (zero flags).</a:t>
            </a:r>
          </a:p>
          <a:p>
            <a:pPr>
              <a:spcAft>
                <a:spcPts val="600"/>
              </a:spcAft>
              <a:defRPr sz="1200">
                <a:solidFill>
                  <a:srgbClr val="F1F5F9"/>
                </a:solidFill>
              </a:defRPr>
            </a:pPr>
            <a:r>
              <a:t>•  Quantum brute-force search fails to converge (&gt;2^128 operations).</a:t>
            </a:r>
          </a:p>
          <a:p>
            <a:pPr>
              <a:spcAft>
                <a:spcPts val="600"/>
              </a:spcAft>
              <a:defRPr sz="1200">
                <a:solidFill>
                  <a:srgbClr val="F1F5F9"/>
                </a:solidFill>
              </a:defRPr>
            </a:pPr>
            <a:r>
              <a:t>•  Result: Proven unbreakable under Shannon's Perfect Secrecy theorem.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B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none">
            <a:spAutoFit/>
          </a:bodyPr>
          <a:lstStyle/>
          <a:p>
            <a:pPr>
              <a:defRPr sz="1100" b="1">
                <a:solidFill>
                  <a:srgbClr val="00F5D4"/>
                </a:solidFill>
              </a:defRPr>
            </a:pPr>
            <a:r>
              <a:t>SUMMARY &amp; VALUE PROPOSITION</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F1F5F9"/>
                </a:solidFill>
              </a:defRPr>
            </a:pPr>
            <a:r>
              <a:t>Production-Ready Post-Quantum Security Today</a:t>
            </a:r>
          </a:p>
        </p:txBody>
      </p:sp>
      <p:sp>
        <p:nvSpPr>
          <p:cNvPr id="5" name="Rounded Rectangle 4"/>
          <p:cNvSpPr/>
          <p:nvPr/>
        </p:nvSpPr>
        <p:spPr>
          <a:xfrm>
            <a:off x="731520" y="1463040"/>
            <a:ext cx="5120640" cy="4754880"/>
          </a:xfrm>
          <a:prstGeom prst="roundRect">
            <a:avLst/>
          </a:prstGeom>
          <a:solidFill>
            <a:srgbClr val="0F172A"/>
          </a:solidFill>
          <a:ln w="1905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600" b="1">
                <a:solidFill>
                  <a:srgbClr val="00F5D4"/>
                </a:solidFill>
              </a:defRPr>
            </a:pPr>
            <a:r>
              <a:t>Key Project Strengths</a:t>
            </a:r>
          </a:p>
          <a:p>
            <a:pPr>
              <a:spcAft>
                <a:spcPts val="600"/>
              </a:spcAft>
              <a:defRPr sz="1200">
                <a:solidFill>
                  <a:srgbClr val="F1F5F9"/>
                </a:solidFill>
              </a:defRPr>
            </a:pPr>
            <a:r>
              <a:t>•  100% Compliant with ISRO Problem Statement SIH1523.</a:t>
            </a:r>
          </a:p>
          <a:p>
            <a:pPr>
              <a:spcAft>
                <a:spcPts val="600"/>
              </a:spcAft>
              <a:defRPr sz="1200">
                <a:solidFill>
                  <a:srgbClr val="F1F5F9"/>
                </a:solidFill>
              </a:defRPr>
            </a:pPr>
            <a:r>
              <a:t>•  Mathematically Unbreakable: True One-Time Pad XOR encryption.</a:t>
            </a:r>
          </a:p>
          <a:p>
            <a:pPr>
              <a:spcAft>
                <a:spcPts val="600"/>
              </a:spcAft>
              <a:defRPr sz="1200">
                <a:solidFill>
                  <a:srgbClr val="F1F5F9"/>
                </a:solidFill>
              </a:defRPr>
            </a:pPr>
            <a:r>
              <a:t>•  Zero Infrastructure Overhaul: Works immediately over standard Gmail/Outlook.</a:t>
            </a:r>
          </a:p>
          <a:p>
            <a:pPr>
              <a:spcAft>
                <a:spcPts val="600"/>
              </a:spcAft>
              <a:defRPr sz="1200">
                <a:solidFill>
                  <a:srgbClr val="F1F5F9"/>
                </a:solidFill>
              </a:defRPr>
            </a:pPr>
            <a:r>
              <a:t>•  Single-Use Forward Secrecy: Keys are automatically burned after reading.</a:t>
            </a:r>
          </a:p>
        </p:txBody>
      </p:sp>
      <p:sp>
        <p:nvSpPr>
          <p:cNvPr id="7" name="Rounded Rectangle 6"/>
          <p:cNvSpPr/>
          <p:nvPr/>
        </p:nvSpPr>
        <p:spPr>
          <a:xfrm>
            <a:off x="6217920" y="1463040"/>
            <a:ext cx="5120640" cy="47548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754880" cy="4389120"/>
          </a:xfrm>
          <a:prstGeom prst="rect">
            <a:avLst/>
          </a:prstGeom>
          <a:noFill/>
        </p:spPr>
        <p:txBody>
          <a:bodyPr wrap="square">
            <a:spAutoFit/>
          </a:bodyPr>
          <a:lstStyle/>
          <a:p>
            <a:pPr>
              <a:spcAft>
                <a:spcPts val="800"/>
              </a:spcAft>
              <a:defRPr sz="1600" b="1">
                <a:solidFill>
                  <a:srgbClr val="34D399"/>
                </a:solidFill>
              </a:defRPr>
            </a:pPr>
            <a:r>
              <a:t>Project Status &amp; Roadmap</a:t>
            </a:r>
          </a:p>
          <a:p>
            <a:pPr>
              <a:spcAft>
                <a:spcPts val="600"/>
              </a:spcAft>
              <a:defRPr sz="1200">
                <a:solidFill>
                  <a:srgbClr val="F1F5F9"/>
                </a:solidFill>
              </a:defRPr>
            </a:pPr>
            <a:r>
              <a:t>•  Working Prototype: Live Streamlit dashboard tested with real Gmail SMTP dispatch [DONE].</a:t>
            </a:r>
          </a:p>
          <a:p>
            <a:pPr>
              <a:spcAft>
                <a:spcPts val="600"/>
              </a:spcAft>
              <a:defRPr sz="1200">
                <a:solidFill>
                  <a:srgbClr val="F1F5F9"/>
                </a:solidFill>
              </a:defRPr>
            </a:pPr>
            <a:r>
              <a:t>•  Unsupervised AI Stego: K-Means texture masking and PSNR inspection [DONE].</a:t>
            </a:r>
          </a:p>
          <a:p>
            <a:pPr>
              <a:spcAft>
                <a:spcPts val="600"/>
              </a:spcAft>
              <a:defRPr sz="1200">
                <a:solidFill>
                  <a:srgbClr val="F1F5F9"/>
                </a:solidFill>
              </a:defRPr>
            </a:pPr>
            <a:r>
              <a:t>•  Local Key Manager: Localhost key vault with automatic memory zeroing [DONE].</a:t>
            </a:r>
          </a:p>
          <a:p>
            <a:pPr>
              <a:spcAft>
                <a:spcPts val="600"/>
              </a:spcAft>
              <a:defRPr sz="1200">
                <a:solidFill>
                  <a:srgbClr val="F1F5F9"/>
                </a:solidFill>
              </a:defRPr>
            </a:pPr>
            <a:r>
              <a:t>•  Next Milestone: Standalone desktop app &amp; hardware QKD optical synchronization.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